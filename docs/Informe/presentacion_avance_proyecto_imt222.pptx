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78" r:id="rId5"/>
    <p:sldId id="279" r:id="rId6"/>
    <p:sldId id="282" r:id="rId7"/>
    <p:sldId id="283" r:id="rId8"/>
    <p:sldId id="284" r:id="rId9"/>
    <p:sldId id="285" r:id="rId10"/>
    <p:sldId id="287" r:id="rId11"/>
    <p:sldId id="286" r:id="rId12"/>
    <p:sldId id="281" r:id="rId13"/>
    <p:sldId id="288" r:id="rId14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FB012-E420-4B95-AE63-A8D98F1E9FF8}" type="datetime1">
              <a:rPr lang="es-ES" smtClean="0"/>
              <a:t>29/11/2025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83E88-2765-4140-A04D-8B1D491FFF4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428893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BEC11F6-780B-4A70-BC74-0ABACE79CAA5}" type="datetime1">
              <a:rPr lang="es-ES" noProof="0" smtClean="0"/>
              <a:t>29/11/2025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6DE88F-1F85-4A27-9D34-D74A50E7B0DA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E6DE88F-1F85-4A27-9D34-D74A50E7B0DA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7270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s-ES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F2139-94F8-000A-4104-F858352C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3DDDB36-383A-F46D-6591-C08C4F608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7E0FC96-2137-4244-E481-B7E679480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73F10B-940C-5412-C8E7-F3CFF4563A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E6DE88F-1F85-4A27-9D34-D74A50E7B0DA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00276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8C1EB-6026-960C-8546-8CB69B59E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032DCBB-7D88-DE71-D323-ABB6BF7A4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E09F10C-B49B-F011-0330-41480023F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A09D1D1-4FAF-6DE8-D535-66A425373A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E6DE88F-1F85-4A27-9D34-D74A50E7B0DA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00465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32D04-67CB-FB5E-25CE-F99D45B22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C465C70-2C5A-1F02-C91F-D9F5CC83E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03C3DE5-F104-FF65-4D5B-9AEABA546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C2E191-84A7-4E0D-A104-2FB9610B70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E6DE88F-1F85-4A27-9D34-D74A50E7B0DA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53906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67716-F1C6-0340-052A-67B30F844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4B69DC6-B72F-3E29-BBA0-638D02D52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A36C563-3E04-D2C4-DE5C-DFB4DCF85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59D35D-879A-03B5-32ED-B0B69FC368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E6DE88F-1F85-4A27-9D34-D74A50E7B0DA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3403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4D429-465F-DF7F-1729-98B8BE218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DBC61A0-843C-6A80-5D5D-D9ABEAB10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A5F200D-9B19-7BBF-D293-2ADB86747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6A1D71-60B5-2F43-B846-71C8EA2B21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E6DE88F-1F85-4A27-9D34-D74A50E7B0DA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10525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2C6CF-B17B-24F1-A7DA-79CDA6BEC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89DA4EC-8D53-3805-7FB5-6FFBA2FA0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4DEF5FF-31F0-14C4-CD0D-419CF446B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F11446-94C9-6C25-7A7D-3848B49FE8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E6DE88F-1F85-4A27-9D34-D74A50E7B0DA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79949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F6BCC-6E20-55C1-710A-000338BB2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43F58D9-92C5-E782-4701-413ED4B6C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2D43A99F-5387-60A6-0A34-E8E04E568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A07146D6-D51E-A2A1-F139-EECDF1684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s-ES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ES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276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B2791-8B37-4EA5-5B81-638C677B5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64A995B-A924-DD00-6593-2EE0C469C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961FFFE-F388-53DE-C5A1-0B15F5927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812EED-54AA-C49D-33D8-6E7092933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E6DE88F-1F85-4A27-9D34-D74A50E7B0DA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11877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1C7952-479D-4D4B-8F19-C6026F510D9E}" type="datetime1">
              <a:rPr lang="es-ES" noProof="0" smtClean="0"/>
              <a:t>29/11/2025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5F9175-B10B-4641-995C-12E45A3F36CD}" type="datetime1">
              <a:rPr lang="es-ES" noProof="0" smtClean="0"/>
              <a:t>29/11/2025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CEA549-D5CD-4EAF-92DD-F120BAE2B00B}" type="datetime1">
              <a:rPr lang="es-ES" noProof="0" smtClean="0"/>
              <a:t>29/11/2025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9D2F8E-7231-4034-8D2D-3DE6DA3442B3}" type="datetime1">
              <a:rPr lang="es-ES" noProof="0" smtClean="0"/>
              <a:t>29/11/2025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Imagen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9E704EA-5CB1-494A-9524-E0FAE6BBE6C4}" type="datetime1">
              <a:rPr lang="es-ES" noProof="0" smtClean="0"/>
              <a:t>29/11/2025</a:t>
            </a:fld>
            <a:endParaRPr lang="es-ES" noProof="0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842E49-C804-4EEC-9941-A438EC0B005D}" type="datetime1">
              <a:rPr lang="es-ES" noProof="0" smtClean="0"/>
              <a:t>29/11/2025</a:t>
            </a:fld>
            <a:endParaRPr lang="es-ES" noProof="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CB7135-DC88-46C5-8577-B4652D9D518F}" type="datetime1">
              <a:rPr lang="es-ES" noProof="0" smtClean="0"/>
              <a:t>29/11/2025</a:t>
            </a:fld>
            <a:endParaRPr lang="es-ES" noProof="0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0BDDAF-5FB4-4645-B812-33656A6F2B85}" type="datetime1">
              <a:rPr lang="es-ES" noProof="0" smtClean="0"/>
              <a:t>29/11/2025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43182DB-EE2B-4FEC-B9F5-C787A05118D2}" type="datetime1">
              <a:rPr lang="es-ES" noProof="0" smtClean="0"/>
              <a:t>29/11/2025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758912-430E-46D1-BA95-7CF218A879F9}" type="datetime1">
              <a:rPr lang="es-ES" noProof="0" smtClean="0"/>
              <a:t>29/11/2025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D604E1-623C-4365-B688-201238FB20C0}" type="datetime1">
              <a:rPr lang="es-ES" noProof="0" smtClean="0"/>
              <a:t>29/11/2025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2" name="Marcador de texto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ADFC75-E87D-46C2-9102-15C11F0259DB}" type="datetime1">
              <a:rPr lang="es-ES" noProof="0" smtClean="0"/>
              <a:t>29/11/2025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1" name="Cuadro de texto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sz="80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Cuadro de texto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s-ES" sz="8000" noProof="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2E54EC6-1219-49EE-8B80-3C24DE8E5A44}" type="datetime1">
              <a:rPr lang="es-ES" noProof="0" smtClean="0"/>
              <a:t>29/11/2025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7" name="Marcador de texto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8" name="Marcador de posición de texto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9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Marcador de posición de texto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1" name="Marcador de posición de texto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posición de texto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4DCC15-8F35-48A3-948F-896E04D77AE9}" type="datetime1">
              <a:rPr lang="es-ES" noProof="0" smtClean="0"/>
              <a:t>29/11/2025</a:t>
            </a:fld>
            <a:endParaRPr lang="es-ES" noProof="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Imagen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Imagen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ítulo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9" name="Marcador de texto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posición de imagen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1" name="Marcador de posición de texto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posición de imagen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4" name="Marcador de posición de texto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posición de texto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posición de imagen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7" name="Marcador de posición de texto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76F276-4198-468B-A622-B7B7E3766911}" type="datetime1">
              <a:rPr lang="es-ES" noProof="0" smtClean="0"/>
              <a:t>29/11/2025</a:t>
            </a:fld>
            <a:endParaRPr lang="es-ES" noProof="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7305C6AA-9D71-4080-8813-13E932244C60}" type="datetime1">
              <a:rPr lang="es-ES" noProof="0" smtClean="0"/>
              <a:t>29/11/2025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2001" cy="6857990"/>
          </a:xfrm>
          <a:prstGeom prst="rect">
            <a:avLst/>
          </a:prstGeom>
        </p:spPr>
      </p:pic>
      <p:sp useBgFill="1">
        <p:nvSpPr>
          <p:cNvPr id="103" name="Forma libre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a16="http://schemas.microsoft.com/office/drawing/2014/main" xmlns:p14="http://schemas.microsoft.com/office/powerpoint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04979" y="2442248"/>
            <a:ext cx="3485073" cy="2420504"/>
          </a:xfrm>
        </p:spPr>
        <p:txBody>
          <a:bodyPr rtlCol="0">
            <a:normAutofit fontScale="90000"/>
          </a:bodyPr>
          <a:lstStyle/>
          <a:p>
            <a:pPr algn="l"/>
            <a:r>
              <a:rPr lang="es-ES" sz="5300" dirty="0" err="1"/>
              <a:t>BarBot</a:t>
            </a:r>
            <a:r>
              <a:rPr lang="es-ES" sz="5300" dirty="0"/>
              <a:t>:</a:t>
            </a:r>
            <a:br>
              <a:rPr lang="es-ES" sz="4000" dirty="0"/>
            </a:br>
            <a:r>
              <a:rPr lang="es-ES" sz="4000" dirty="0"/>
              <a:t>Sistema Embebido Automatizado para Preparación de Bebidas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C0E4FAA5-9CA0-D26D-3ECC-C879C9E014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82568" y="5915960"/>
            <a:ext cx="5852348" cy="477977"/>
          </a:xfrm>
        </p:spPr>
        <p:txBody>
          <a:bodyPr rtlCol="0">
            <a:normAutofit/>
          </a:bodyPr>
          <a:lstStyle/>
          <a:p>
            <a:pPr algn="l" rtl="0"/>
            <a:r>
              <a:rPr lang="es-ES" dirty="0">
                <a:solidFill>
                  <a:schemeClr val="bg1"/>
                </a:solidFill>
              </a:rPr>
              <a:t>Proyecto Final - Sistemas Embebidos I (IMT-222)</a:t>
            </a:r>
            <a:endParaRPr lang="es-ES" sz="2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ángulo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0" y="10"/>
            <a:ext cx="6096000" cy="6857990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009" y="1112516"/>
            <a:ext cx="4538124" cy="970450"/>
          </a:xfrm>
        </p:spPr>
        <p:txBody>
          <a:bodyPr rtlCol="0" anchor="b">
            <a:normAutofit/>
          </a:bodyPr>
          <a:lstStyle/>
          <a:p>
            <a:pPr algn="l"/>
            <a:r>
              <a:rPr lang="es-ES" sz="4000" b="1" dirty="0"/>
              <a:t>Integrantes:</a:t>
            </a:r>
            <a:endParaRPr lang="es-ES" sz="4000" dirty="0"/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132" y="2568191"/>
            <a:ext cx="4403596" cy="4058751"/>
          </a:xfrm>
        </p:spPr>
        <p:txBody>
          <a:bodyPr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Alejandro Bejarano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Benjamin Soruco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 err="1"/>
              <a:t>Susann</a:t>
            </a:r>
            <a:r>
              <a:rPr lang="es-ES" sz="2800" dirty="0"/>
              <a:t> </a:t>
            </a:r>
            <a:r>
              <a:rPr lang="es-ES" sz="2800" dirty="0" err="1"/>
              <a:t>Baldiviezo</a:t>
            </a: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Florencia Frigerio</a:t>
            </a:r>
          </a:p>
          <a:p>
            <a:pPr marL="36900" indent="0" rtl="0">
              <a:buNone/>
            </a:pP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A542A-F372-E3A5-B5A8-1A7721B44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33FB2DB-405D-6E8E-17BA-0820B2C0A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32128854-C291-BE86-3728-17056737E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8005" y="1310150"/>
            <a:ext cx="9440034" cy="904834"/>
          </a:xfrm>
        </p:spPr>
        <p:txBody>
          <a:bodyPr>
            <a:normAutofit fontScale="90000"/>
          </a:bodyPr>
          <a:lstStyle/>
          <a:p>
            <a:r>
              <a:rPr lang="es-ES" dirty="0">
                <a:solidFill>
                  <a:schemeClr val="bg1"/>
                </a:solidFill>
              </a:rPr>
              <a:t>¿Qué es el </a:t>
            </a:r>
            <a:r>
              <a:rPr lang="es-ES" dirty="0" err="1">
                <a:solidFill>
                  <a:schemeClr val="bg1"/>
                </a:solidFill>
              </a:rPr>
              <a:t>BarBot</a:t>
            </a:r>
            <a:r>
              <a:rPr lang="es-ES" dirty="0">
                <a:solidFill>
                  <a:schemeClr val="bg1"/>
                </a:solidFill>
              </a:rPr>
              <a:t>?</a:t>
            </a:r>
            <a:br>
              <a:rPr lang="es-ES" dirty="0">
                <a:solidFill>
                  <a:schemeClr val="bg1"/>
                </a:solidFill>
              </a:rPr>
            </a:br>
            <a:endParaRPr lang="es-E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B717AD2-6F08-2970-4337-DBA08C95DE8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96622" y="2214984"/>
            <a:ext cx="979875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 un sistema embebido diseñado para la preparación automatizada de bebidas mezcladas (</a:t>
            </a:r>
            <a:r>
              <a:rPr kumimoji="0" lang="es-ES" altLang="es-E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Ej</a:t>
            </a:r>
            <a:r>
              <a:rPr kumimoji="0" lang="es-ES" altLang="es-E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s-ES" altLang="es-E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Ron+Cola</a:t>
            </a:r>
            <a:r>
              <a:rPr kumimoji="0" lang="es-ES" altLang="es-E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altLang="es-E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Fernet+Cola</a:t>
            </a:r>
            <a:r>
              <a:rPr kumimoji="0" lang="es-ES" altLang="es-E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Integra </a:t>
            </a:r>
            <a:r>
              <a:rPr kumimoji="0" lang="es-ES" altLang="es-E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Hardware</a:t>
            </a:r>
            <a:r>
              <a:rPr kumimoji="0" lang="es-ES" altLang="es-E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(electrónica y mecanismos) con </a:t>
            </a:r>
            <a:r>
              <a:rPr kumimoji="0" lang="es-ES" altLang="es-E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Software</a:t>
            </a:r>
            <a:r>
              <a:rPr kumimoji="0" lang="es-ES" altLang="es-E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avanzado (Sistema Operativo en Tiempo Real).</a:t>
            </a:r>
          </a:p>
        </p:txBody>
      </p:sp>
    </p:spTree>
    <p:extLst>
      <p:ext uri="{BB962C8B-B14F-4D97-AF65-F5344CB8AC3E}">
        <p14:creationId xmlns:p14="http://schemas.microsoft.com/office/powerpoint/2010/main" val="1252478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FD003-28DB-771E-556E-2E58398A8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D18DC99-97B8-365F-F9B6-FA7C37737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DDC612E6-76EB-7041-AC2A-ACD365C2815C}"/>
              </a:ext>
            </a:extLst>
          </p:cNvPr>
          <p:cNvSpPr/>
          <p:nvPr/>
        </p:nvSpPr>
        <p:spPr>
          <a:xfrm>
            <a:off x="157315" y="1177412"/>
            <a:ext cx="5653549" cy="402385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800" b="1" dirty="0"/>
              <a:t>Objetivo General:</a:t>
            </a:r>
          </a:p>
          <a:p>
            <a:endParaRPr lang="es-E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Diseñar e implementar un sistema automatizado basado en control de posición discreto, Máquina de Estados (FSM) y </a:t>
            </a:r>
            <a:r>
              <a:rPr lang="es-ES" sz="2000" dirty="0" err="1"/>
              <a:t>FreeRTOS</a:t>
            </a:r>
            <a:r>
              <a:rPr lang="es-ES" sz="2000" dirty="0"/>
              <a:t>.</a:t>
            </a:r>
          </a:p>
          <a:p>
            <a:pPr algn="ctr"/>
            <a:endParaRPr lang="es-ES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7C46DC2-618D-8B03-3452-6E2EF9E50794}"/>
              </a:ext>
            </a:extLst>
          </p:cNvPr>
          <p:cNvSpPr/>
          <p:nvPr/>
        </p:nvSpPr>
        <p:spPr>
          <a:xfrm>
            <a:off x="6194323" y="629265"/>
            <a:ext cx="5574890" cy="581086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800" b="1" dirty="0"/>
              <a:t>Objetivos Específicos: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Desarrollar una FSM (Máquina de Estados Finitos) para la secuencia lógica.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Implementar </a:t>
            </a:r>
            <a:r>
              <a:rPr lang="es-ES" sz="2000" dirty="0" err="1"/>
              <a:t>FreeRTOS</a:t>
            </a:r>
            <a:r>
              <a:rPr lang="es-ES" sz="2000" dirty="0"/>
              <a:t> para la gestión de tareas paralelas.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Controlar la posición del carrusel mediante sensores (finales de carrera).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Interfaz de usuario amigable mediante LCD I²C y botones</a:t>
            </a:r>
          </a:p>
        </p:txBody>
      </p:sp>
    </p:spTree>
    <p:extLst>
      <p:ext uri="{BB962C8B-B14F-4D97-AF65-F5344CB8AC3E}">
        <p14:creationId xmlns:p14="http://schemas.microsoft.com/office/powerpoint/2010/main" val="224130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140A0-314F-F8C7-9BCD-A0244A56E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8EDD638-5EC2-F4F9-50A6-BF7849432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C14A745-2D33-8DC1-F480-CFB7DD9C9011}"/>
              </a:ext>
            </a:extLst>
          </p:cNvPr>
          <p:cNvSpPr txBox="1"/>
          <p:nvPr/>
        </p:nvSpPr>
        <p:spPr>
          <a:xfrm>
            <a:off x="3483980" y="492294"/>
            <a:ext cx="61746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COMPONENTES Y HARDWARE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1657B72-AAD9-9478-D524-97C2D18053DF}"/>
              </a:ext>
            </a:extLst>
          </p:cNvPr>
          <p:cNvSpPr txBox="1"/>
          <p:nvPr/>
        </p:nvSpPr>
        <p:spPr>
          <a:xfrm>
            <a:off x="937550" y="1454413"/>
            <a:ext cx="525490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</a:rPr>
              <a:t>Microcontrolador: </a:t>
            </a:r>
            <a:r>
              <a:rPr lang="es-ES" sz="2400" dirty="0">
                <a:solidFill>
                  <a:schemeClr val="bg1"/>
                </a:solidFill>
              </a:rPr>
              <a:t>ESP32 </a:t>
            </a:r>
            <a:r>
              <a:rPr lang="es-ES" sz="2400" dirty="0" err="1">
                <a:solidFill>
                  <a:schemeClr val="bg1"/>
                </a:solidFill>
              </a:rPr>
              <a:t>DevKit</a:t>
            </a:r>
            <a:r>
              <a:rPr lang="es-ES" sz="2400" dirty="0">
                <a:solidFill>
                  <a:schemeClr val="bg1"/>
                </a:solidFill>
              </a:rPr>
              <a:t> V1 (Procesamiento central).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</a:rPr>
              <a:t>Actuadores:</a:t>
            </a:r>
          </a:p>
          <a:p>
            <a:r>
              <a:rPr lang="es-ES" sz="2400" dirty="0">
                <a:solidFill>
                  <a:schemeClr val="bg1"/>
                </a:solidFill>
              </a:rPr>
              <a:t>     </a:t>
            </a:r>
            <a:r>
              <a:rPr lang="es-ES" sz="2400" b="1" dirty="0">
                <a:solidFill>
                  <a:schemeClr val="bg1"/>
                </a:solidFill>
              </a:rPr>
              <a:t>Carrusel: </a:t>
            </a:r>
            <a:r>
              <a:rPr lang="es-ES" sz="2400" dirty="0">
                <a:solidFill>
                  <a:schemeClr val="bg1"/>
                </a:solidFill>
              </a:rPr>
              <a:t>Motor de limpiaparabrisas (12V) de alto torque.</a:t>
            </a:r>
          </a:p>
          <a:p>
            <a:r>
              <a:rPr lang="es-ES" sz="2400" dirty="0">
                <a:solidFill>
                  <a:schemeClr val="bg1"/>
                </a:solidFill>
              </a:rPr>
              <a:t>     Dispensador: Servomotor (SG90/MG996R) controlado por PWM.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</a:rPr>
              <a:t>Sensores (</a:t>
            </a:r>
            <a:r>
              <a:rPr lang="es-ES" sz="2400" b="1" dirty="0" err="1">
                <a:solidFill>
                  <a:schemeClr val="bg1"/>
                </a:solidFill>
              </a:rPr>
              <a:t>Feedback</a:t>
            </a:r>
            <a:r>
              <a:rPr lang="es-ES" sz="2400" b="1" dirty="0">
                <a:solidFill>
                  <a:schemeClr val="bg1"/>
                </a:solidFill>
              </a:rPr>
              <a:t>):</a:t>
            </a:r>
          </a:p>
          <a:p>
            <a:r>
              <a:rPr lang="es-ES" sz="2400" dirty="0">
                <a:solidFill>
                  <a:schemeClr val="bg1"/>
                </a:solidFill>
              </a:rPr>
              <a:t>     Finales de carrera: HOME (posición cero) y SLOT (posición de botella).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</a:rPr>
              <a:t>Interfaz: </a:t>
            </a:r>
            <a:r>
              <a:rPr lang="es-ES" sz="2400" dirty="0">
                <a:solidFill>
                  <a:schemeClr val="bg1"/>
                </a:solidFill>
              </a:rPr>
              <a:t>Pantalla LCD I²C (Visualización de estados) y Botonera.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682D76F-6283-BA12-9A09-D56412904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775" y="2062277"/>
            <a:ext cx="5254906" cy="308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2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FD83F-4401-D4FE-F54F-1760ECF42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5AA5764-FB6A-32AA-9CF8-25C764280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B2E74DD-F6AE-3FE2-DACB-E64E15AEA48B}"/>
              </a:ext>
            </a:extLst>
          </p:cNvPr>
          <p:cNvSpPr txBox="1"/>
          <p:nvPr/>
        </p:nvSpPr>
        <p:spPr>
          <a:xfrm>
            <a:off x="5184624" y="341368"/>
            <a:ext cx="6458673" cy="107721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s-ES" sz="3200" dirty="0"/>
              <a:t>MÁQUINA DE ESTADOS FINITOS (FSM)</a:t>
            </a:r>
            <a:endParaRPr lang="es-ES" sz="32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04F9451-E219-ACC6-C33A-09AA40405580}"/>
              </a:ext>
            </a:extLst>
          </p:cNvPr>
          <p:cNvSpPr txBox="1"/>
          <p:nvPr/>
        </p:nvSpPr>
        <p:spPr>
          <a:xfrm>
            <a:off x="5903089" y="1759944"/>
            <a:ext cx="525490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</a:rPr>
              <a:t>Funcionamiento:</a:t>
            </a:r>
          </a:p>
          <a:p>
            <a:r>
              <a:rPr lang="es-ES" sz="2800" dirty="0">
                <a:solidFill>
                  <a:schemeClr val="bg1"/>
                </a:solidFill>
              </a:rPr>
              <a:t>El sistema nunca improvisa, sigue estados definidos:</a:t>
            </a:r>
          </a:p>
          <a:p>
            <a:r>
              <a:rPr lang="es-ES" sz="2800" dirty="0">
                <a:solidFill>
                  <a:schemeClr val="bg1"/>
                </a:solidFill>
              </a:rPr>
              <a:t>ST_HOME: Calibración inicial (busca el sensor Home).</a:t>
            </a:r>
          </a:p>
          <a:p>
            <a:r>
              <a:rPr lang="es-ES" sz="2800" dirty="0">
                <a:solidFill>
                  <a:schemeClr val="bg1"/>
                </a:solidFill>
              </a:rPr>
              <a:t>ST_MENU: Usuario selecciona la receta con botones UP/DOWN.</a:t>
            </a:r>
          </a:p>
          <a:p>
            <a:r>
              <a:rPr lang="es-ES" sz="2800" dirty="0">
                <a:solidFill>
                  <a:schemeClr val="bg1"/>
                </a:solidFill>
              </a:rPr>
              <a:t>ST_MOVE: El motor gira hasta la botella seleccionada.</a:t>
            </a:r>
          </a:p>
          <a:p>
            <a:r>
              <a:rPr lang="es-ES" sz="2800" dirty="0">
                <a:solidFill>
                  <a:schemeClr val="bg1"/>
                </a:solidFill>
              </a:rPr>
              <a:t>ST_DISPENSE: El servo sirve el licor y luego el mezclador.</a:t>
            </a: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14FAB846-B62B-BE87-BE8B-765650355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506" y="444073"/>
            <a:ext cx="2356542" cy="614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855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93620-C889-6409-F0B7-F3D741A0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ECCA6F-88E8-3290-0841-06491651FB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2BA91A1-04BC-C15A-7F1F-FFC078190ACB}"/>
              </a:ext>
            </a:extLst>
          </p:cNvPr>
          <p:cNvSpPr/>
          <p:nvPr/>
        </p:nvSpPr>
        <p:spPr>
          <a:xfrm>
            <a:off x="270387" y="2004964"/>
            <a:ext cx="5653549" cy="402385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sz="2800" dirty="0"/>
          </a:p>
          <a:p>
            <a:r>
              <a:rPr lang="es-ES" sz="2800" b="1" dirty="0"/>
              <a:t>¿</a:t>
            </a:r>
            <a:r>
              <a:rPr lang="es-ES" sz="3200" b="1" dirty="0"/>
              <a:t>POR QUÉ FREERTOS?</a:t>
            </a:r>
          </a:p>
          <a:p>
            <a:endParaRPr lang="es-E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Permite separar la lógica de control de la interfaz visual, garantizando tiempos precisos.</a:t>
            </a:r>
            <a:endParaRPr lang="es-ES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515F712-108C-3741-6693-FD3D42C2145B}"/>
              </a:ext>
            </a:extLst>
          </p:cNvPr>
          <p:cNvSpPr/>
          <p:nvPr/>
        </p:nvSpPr>
        <p:spPr>
          <a:xfrm>
            <a:off x="6194324" y="2004963"/>
            <a:ext cx="5574890" cy="402385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000" b="1" dirty="0"/>
              <a:t>TAREAS CREADAS:</a:t>
            </a:r>
          </a:p>
          <a:p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err="1"/>
              <a:t>TaskBarbot</a:t>
            </a:r>
            <a:r>
              <a:rPr lang="es-ES" sz="2000" dirty="0"/>
              <a:t> (Prioridad Alta): Ejecuta la máquina de estados cada 10ms.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err="1"/>
              <a:t>TaskHeartbeat</a:t>
            </a:r>
            <a:r>
              <a:rPr lang="es-ES" sz="2000" dirty="0"/>
              <a:t> (Prioridad Baja): Indicador de funcionamiento (LED).</a:t>
            </a:r>
          </a:p>
          <a:p>
            <a:endParaRPr lang="es-ES" sz="2000" dirty="0"/>
          </a:p>
          <a:p>
            <a:endParaRPr lang="es-ES" sz="2000" dirty="0"/>
          </a:p>
          <a:p>
            <a:r>
              <a:rPr lang="es-ES" sz="2000" b="1" dirty="0"/>
              <a:t>VENTAJA TÉCNICA: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Uso de </a:t>
            </a:r>
            <a:r>
              <a:rPr lang="es-ES" sz="2000" dirty="0" err="1"/>
              <a:t>vTaskDelay</a:t>
            </a:r>
            <a:r>
              <a:rPr lang="es-ES" sz="2000" dirty="0"/>
              <a:t> para liberar el procesador en lugar de bloquearlo con </a:t>
            </a:r>
            <a:r>
              <a:rPr lang="es-ES" sz="2000" dirty="0" err="1"/>
              <a:t>delay</a:t>
            </a:r>
            <a:r>
              <a:rPr lang="es-ES" sz="2000" dirty="0"/>
              <a:t>().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E84DF9E-DBD5-35D0-76A6-F30D06CE7528}"/>
              </a:ext>
            </a:extLst>
          </p:cNvPr>
          <p:cNvSpPr txBox="1"/>
          <p:nvPr/>
        </p:nvSpPr>
        <p:spPr>
          <a:xfrm>
            <a:off x="734027" y="516434"/>
            <a:ext cx="618666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</a:rPr>
              <a:t>IMPLEMENTACIÓN DE FREERTOS</a:t>
            </a:r>
          </a:p>
        </p:txBody>
      </p:sp>
    </p:spTree>
    <p:extLst>
      <p:ext uri="{BB962C8B-B14F-4D97-AF65-F5344CB8AC3E}">
        <p14:creationId xmlns:p14="http://schemas.microsoft.com/office/powerpoint/2010/main" val="3394447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9A8D2-DCF3-AA03-5091-0AD57FE14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683122-C860-F5F5-2187-73524DAC6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37F7F03-F033-2355-290F-279D3750FFF2}"/>
              </a:ext>
            </a:extLst>
          </p:cNvPr>
          <p:cNvSpPr txBox="1"/>
          <p:nvPr/>
        </p:nvSpPr>
        <p:spPr>
          <a:xfrm>
            <a:off x="2548358" y="373268"/>
            <a:ext cx="70952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</a:rPr>
              <a:t>ESTRATEGIA DE CONTROL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B9DA875-C5C7-643F-8872-76F6979B6B5F}"/>
              </a:ext>
            </a:extLst>
          </p:cNvPr>
          <p:cNvSpPr txBox="1"/>
          <p:nvPr/>
        </p:nvSpPr>
        <p:spPr>
          <a:xfrm>
            <a:off x="937549" y="1454412"/>
            <a:ext cx="894723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Carrusel (Motor DC):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chemeClr val="bg1"/>
                </a:solidFill>
              </a:rPr>
              <a:t>Control ON/OFF con </a:t>
            </a:r>
            <a:r>
              <a:rPr lang="es-ES" sz="3200" dirty="0" err="1">
                <a:solidFill>
                  <a:schemeClr val="bg1"/>
                </a:solidFill>
              </a:rPr>
              <a:t>realimentación.El</a:t>
            </a:r>
            <a:r>
              <a:rPr lang="es-ES" sz="3200" dirty="0">
                <a:solidFill>
                  <a:schemeClr val="bg1"/>
                </a:solidFill>
              </a:rPr>
              <a:t> motor se detiene inmediatamente al detectar el sensor de posición (SLOT)27.</a:t>
            </a:r>
          </a:p>
          <a:p>
            <a:r>
              <a:rPr lang="es-ES" sz="3200" dirty="0">
                <a:solidFill>
                  <a:schemeClr val="bg1"/>
                </a:solidFill>
              </a:rPr>
              <a:t>Dispensador (Servo):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chemeClr val="bg1"/>
                </a:solidFill>
              </a:rPr>
              <a:t>Control por tiempo basado en caudal constante ($V = Q \</a:t>
            </a:r>
            <a:r>
              <a:rPr lang="es-ES" sz="3200" dirty="0" err="1">
                <a:solidFill>
                  <a:schemeClr val="bg1"/>
                </a:solidFill>
              </a:rPr>
              <a:t>cdot</a:t>
            </a:r>
            <a:r>
              <a:rPr lang="es-ES" sz="3200" dirty="0">
                <a:solidFill>
                  <a:schemeClr val="bg1"/>
                </a:solidFill>
              </a:rPr>
              <a:t> t$)2828.Se definen tiempos específicos (</a:t>
            </a:r>
            <a:r>
              <a:rPr lang="es-ES" sz="3200" dirty="0" err="1">
                <a:solidFill>
                  <a:schemeClr val="bg1"/>
                </a:solidFill>
              </a:rPr>
              <a:t>pourMs</a:t>
            </a:r>
            <a:r>
              <a:rPr lang="es-ES" sz="3200" dirty="0">
                <a:solidFill>
                  <a:schemeClr val="bg1"/>
                </a:solidFill>
              </a:rPr>
              <a:t>) para lograr la proporción 30% alcohol / 70% mezclador29292929.</a:t>
            </a:r>
          </a:p>
        </p:txBody>
      </p:sp>
    </p:spTree>
    <p:extLst>
      <p:ext uri="{BB962C8B-B14F-4D97-AF65-F5344CB8AC3E}">
        <p14:creationId xmlns:p14="http://schemas.microsoft.com/office/powerpoint/2010/main" val="4254118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0C0EA-335B-96F0-833F-1822567CF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1500565-F88F-495A-722A-19F9BBF09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0" y="10"/>
            <a:ext cx="6096000" cy="685799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91A85C1-77A8-0954-4FE3-1EEB47B1E957}"/>
              </a:ext>
            </a:extLst>
          </p:cNvPr>
          <p:cNvSpPr txBox="1"/>
          <p:nvPr/>
        </p:nvSpPr>
        <p:spPr>
          <a:xfrm>
            <a:off x="771206" y="2213022"/>
            <a:ext cx="480393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</a:rPr>
              <a:t>ORGANIZACIÓN MODULAR DEL FIRMWARE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F182B68-29DE-E85F-7872-E33811D6B684}"/>
              </a:ext>
            </a:extLst>
          </p:cNvPr>
          <p:cNvSpPr txBox="1"/>
          <p:nvPr/>
        </p:nvSpPr>
        <p:spPr>
          <a:xfrm>
            <a:off x="6311097" y="876532"/>
            <a:ext cx="555295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El código se divide en capas para facilitar el mantenimiento: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Capa Física (hardware.cpp): Manejo directo de pines y señales eléctricas.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Capa Lógica (fsm.cpp): Toma de decisiones y secuencia.</a:t>
            </a:r>
          </a:p>
          <a:p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Capa de Datos (recipes.cpp): Base de datos de recetas fácil de editar.</a:t>
            </a:r>
          </a:p>
          <a:p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Capa de Usuario (buttons.cpp): Lectura de entradas con </a:t>
            </a:r>
            <a:r>
              <a:rPr lang="es-ES" sz="2400" dirty="0" err="1"/>
              <a:t>debounce</a:t>
            </a:r>
            <a:r>
              <a:rPr lang="es-ES" sz="2400" dirty="0"/>
              <a:t> (</a:t>
            </a:r>
            <a:r>
              <a:rPr lang="es-ES" sz="2400" dirty="0" err="1"/>
              <a:t>antirrebote</a:t>
            </a:r>
            <a:r>
              <a:rPr lang="es-ES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516674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9D314-1900-0A22-5A18-2DE01787B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AC18CEA-FD75-39A1-790C-EBC1B59E3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E01E68A-3932-6AAC-A8C0-213E7CF91D85}"/>
              </a:ext>
            </a:extLst>
          </p:cNvPr>
          <p:cNvSpPr txBox="1"/>
          <p:nvPr/>
        </p:nvSpPr>
        <p:spPr>
          <a:xfrm>
            <a:off x="7234176" y="2228670"/>
            <a:ext cx="61866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</a:rPr>
              <a:t>CONCLUSIONES Y TRABAJO FUTURO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80E89AB-13FA-AD33-7C09-A155DAC57E15}"/>
              </a:ext>
            </a:extLst>
          </p:cNvPr>
          <p:cNvSpPr txBox="1"/>
          <p:nvPr/>
        </p:nvSpPr>
        <p:spPr>
          <a:xfrm>
            <a:off x="412347" y="582066"/>
            <a:ext cx="6594675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</a:rPr>
              <a:t>Resultados:</a:t>
            </a:r>
            <a:endParaRPr lang="es-ES" sz="2800" dirty="0">
              <a:solidFill>
                <a:schemeClr val="bg1"/>
              </a:solidFill>
            </a:endParaRPr>
          </a:p>
          <a:p>
            <a:r>
              <a:rPr lang="es-ES" sz="2800" dirty="0">
                <a:solidFill>
                  <a:schemeClr val="bg1"/>
                </a:solidFill>
              </a:rPr>
              <a:t>Se logró un sistema funcional capaz de preparar 4 tipos de tragos automáticamente.</a:t>
            </a:r>
          </a:p>
          <a:p>
            <a:r>
              <a:rPr lang="es-ES" sz="2800" dirty="0">
                <a:solidFill>
                  <a:schemeClr val="bg1"/>
                </a:solidFill>
              </a:rPr>
              <a:t>La implementación de </a:t>
            </a:r>
            <a:r>
              <a:rPr lang="es-ES" sz="2800" dirty="0" err="1">
                <a:solidFill>
                  <a:schemeClr val="bg1"/>
                </a:solidFill>
              </a:rPr>
              <a:t>FreeRTOS</a:t>
            </a:r>
            <a:r>
              <a:rPr lang="es-ES" sz="2800" dirty="0">
                <a:solidFill>
                  <a:schemeClr val="bg1"/>
                </a:solidFill>
              </a:rPr>
              <a:t> mejoró la estabilidad del sistema frente a un </a:t>
            </a:r>
            <a:r>
              <a:rPr lang="es-ES" sz="2800" dirty="0" err="1">
                <a:solidFill>
                  <a:schemeClr val="bg1"/>
                </a:solidFill>
              </a:rPr>
              <a:t>loop</a:t>
            </a:r>
            <a:r>
              <a:rPr lang="es-ES" sz="2800" dirty="0">
                <a:solidFill>
                  <a:schemeClr val="bg1"/>
                </a:solidFill>
              </a:rPr>
              <a:t> simple.</a:t>
            </a:r>
          </a:p>
          <a:p>
            <a:r>
              <a:rPr lang="es-ES" sz="2800" b="1" dirty="0">
                <a:solidFill>
                  <a:schemeClr val="bg1"/>
                </a:solidFill>
              </a:rPr>
              <a:t>Mejoras Futuras:</a:t>
            </a:r>
          </a:p>
          <a:p>
            <a:r>
              <a:rPr lang="es-ES" sz="2800" dirty="0">
                <a:solidFill>
                  <a:schemeClr val="bg1"/>
                </a:solidFill>
              </a:rPr>
              <a:t>Implementación de Control PID para suavizar el movimiento del motor.</a:t>
            </a:r>
          </a:p>
          <a:p>
            <a:r>
              <a:rPr lang="es-ES" sz="2800" dirty="0">
                <a:solidFill>
                  <a:schemeClr val="bg1"/>
                </a:solidFill>
              </a:rPr>
              <a:t>Centralización de configuraciones en un archivo </a:t>
            </a:r>
            <a:r>
              <a:rPr lang="es-ES" sz="2800" dirty="0" err="1">
                <a:solidFill>
                  <a:schemeClr val="bg1"/>
                </a:solidFill>
              </a:rPr>
              <a:t>config.h</a:t>
            </a:r>
            <a:r>
              <a:rPr lang="es-ES" sz="2800" dirty="0">
                <a:solidFill>
                  <a:schemeClr val="bg1"/>
                </a:solidFill>
              </a:rPr>
              <a:t>.</a:t>
            </a:r>
          </a:p>
          <a:p>
            <a:r>
              <a:rPr lang="es-ES" sz="2800" dirty="0">
                <a:solidFill>
                  <a:schemeClr val="bg1"/>
                </a:solidFill>
              </a:rPr>
              <a:t>Agregar medidas de seguridad (Estado de Error) en la FSM.</a:t>
            </a:r>
          </a:p>
        </p:txBody>
      </p:sp>
    </p:spTree>
    <p:extLst>
      <p:ext uri="{BB962C8B-B14F-4D97-AF65-F5344CB8AC3E}">
        <p14:creationId xmlns:p14="http://schemas.microsoft.com/office/powerpoint/2010/main" val="9149404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6072_TF55705232.potx" id="{48989EC3-9309-4897-8C0D-BDF2311BCEFB}" vid="{43797E30-B318-41B0-A673-A012DE2BDE9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{1ABFBDD7-A721-4D04-83A3-E4DBB95D0FF0}TFe742eee6-54b3-45e8-a03d-f3d997f9b6ca752ac295_win32-baaae6adfb4b</Template>
  <TotalTime>57</TotalTime>
  <Words>588</Words>
  <Application>Microsoft Office PowerPoint</Application>
  <PresentationFormat>Panorámica</PresentationFormat>
  <Paragraphs>83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Goudy Old Style</vt:lpstr>
      <vt:lpstr>Wingdings 2</vt:lpstr>
      <vt:lpstr>SlateVTI</vt:lpstr>
      <vt:lpstr>BarBot: Sistema Embebido Automatizado para Preparación de Bebidas</vt:lpstr>
      <vt:lpstr>Integrantes:</vt:lpstr>
      <vt:lpstr>¿Qué es el BarBot?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soruco</dc:creator>
  <cp:lastModifiedBy>benjamin soruco</cp:lastModifiedBy>
  <cp:revision>1</cp:revision>
  <dcterms:created xsi:type="dcterms:W3CDTF">2025-11-29T13:45:27Z</dcterms:created>
  <dcterms:modified xsi:type="dcterms:W3CDTF">2025-11-29T14:42:53Z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